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builds a sentiment classifier for IMDB movie reviews and compares a SimpleRNN baseline with a Bidirectional LSTM. Introduce yourself, then outline the talk: problem and data, method, evaluation, and the output snippets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Sentiment analysis is a standard text classification task. The model reads a review and outputs the probability that it is positive. The interesting part is that meaning depends on word order and context, for example “not good” versus “good”, which is why recurrent models are a natural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comes bundled with Keras: 25,000 training and 25,000 test reviews, evenly split between positive and negative. We keep only the 10,000 most frequent words and cut or pad every review to 200 tokens so the model sees fixed-size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stages left to right. Reviews arrive as word indices, are padded or truncated to 200 tokens, mapped to 128-dimensional embeddings, passed through either a SimpleRNN or a Bidirectional LSTM, and finished with a small dense head ending in a sigmoid that gives the probability of a positive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RNNs update a single hidden state at every step, and the gradient signal from early words shrinks as it travels back through a long sequence. LSTMs add gates and a separate cell state to control information flow. Wrapping the LSTM in a Bidirectional layer lets the model use context from both directions. The SimpleRNN is kept as a baseline so the comparison is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share the same embedding, dropout and dense head, so the recurrent layer is the only difference. The parameter counts are computed from the layer shapes: the embedding alone holds 1.28 million weights, and the Bidirectional LSTM adds roughly 99 thousand against about 12 thousand for the SimpleRNN. The Keras model summary prints the exact trainable parameter counts for each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train with identical settings so the comparison is fair. Adam optimizes binary cross-entropy, which suits a single sigmoid output. Twenty percent of the training reviews are held out for validation, and early stopping watches validation loss with a patience of two epochs and restores the best weights. Training is capped at five epochs to keep the run short on a CPU or a free Colab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output of the notebook’s final cell for the LSTM model. The clearly positive review scores 0.82 and the clearly negative one scores 0.01. The deliberately mixed review scores 0.34, so the model leans negative but is far less certain, which is the behaviour you would hope for on an ambiguous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what was built: an end-to-end sentiment classifier with two recurrent variants trained under the same conditions. Mention the sample predictions from the previous slide, and be careful to claim only what your own run shows. Then point to the natural next steps: GRUs or stacked layers, pretrained embeddings, longer sequences, and attention-based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questions. If asked for details, the notebook contains the full training logs, classification reports and plots.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0F1B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0F1B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6350000" y="812800"/>
            <a:ext cx="5029200" cy="5029200"/>
          </a:xfrm>
          <a:prstGeom prst="rect">
            <a:avLst/>
          </a:prstGeom>
        </p:spPr>
      </p:pic>
      <p:pic>
        <p:nvPicPr>
          <p:cNvPr id="3" name="Image 1" descr="ellipse">    </p:cNvPr>
          <p:cNvPicPr>
            <a:picLocks noChangeAspect="1"/>
          </p:cNvPicPr>
          <p:nvPr/>
        </p:nvPicPr>
        <p:blipFill>
          <a:blip r:embed="rId2"/>
          <a:srcRect l="0" r="0" t="0" b="0"/>
          <a:stretch/>
        </p:blipFill>
        <p:spPr>
          <a:xfrm>
            <a:off x="7645400" y="2108200"/>
            <a:ext cx="2438400" cy="2438400"/>
          </a:xfrm>
          <a:prstGeom prst="rect">
            <a:avLst/>
          </a:prstGeom>
        </p:spPr>
      </p:pic>
      <p:pic>
        <p:nvPicPr>
          <p:cNvPr id="4" name="Image 2" descr="ellipse">    </p:cNvPr>
          <p:cNvPicPr>
            <a:picLocks noChangeAspect="1"/>
          </p:cNvPicPr>
          <p:nvPr/>
        </p:nvPicPr>
        <p:blipFill>
          <a:blip r:embed="rId3"/>
          <a:srcRect l="0" r="0" t="0" b="0"/>
          <a:stretch/>
        </p:blipFill>
        <p:spPr>
          <a:xfrm>
            <a:off x="8509000" y="2971800"/>
            <a:ext cx="711200" cy="711200"/>
          </a:xfrm>
          <a:prstGeom prst="rect">
            <a:avLst/>
          </a:prstGeom>
        </p:spPr>
      </p:pic>
      <p:sp>
        <p:nvSpPr>
          <p:cNvPr id="5"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A23B"/>
                </a:solidFill>
                <a:latin typeface="IBM Plex Sans" pitchFamily="34" charset="0"/>
                <a:ea typeface="IBM Plex Sans" pitchFamily="34" charset="-122"/>
                <a:cs typeface="IBM Plex Sans" pitchFamily="34" charset="-120"/>
              </a:rPr>
              <a:t>DEEP LEARNING PROJECT</a:t>
            </a:r>
            <a:endParaRPr lang="en-US" sz="1200" dirty="0"/>
          </a:p>
        </p:txBody>
      </p:sp>
      <p:sp>
        <p:nvSpPr>
          <p:cNvPr id="6" name="Text 1"/>
          <p:cNvSpPr/>
          <p:nvPr>
            <p:ph type="title"/>
          </p:nvPr>
        </p:nvSpPr>
        <p:spPr>
          <a:xfrm>
            <a:off x="812800" y="2321620"/>
            <a:ext cx="5886450" cy="125472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6F4EE"/>
                </a:solidFill>
                <a:latin typeface="IBM Plex Sans" pitchFamily="34" charset="0"/>
                <a:ea typeface="IBM Plex Sans" pitchFamily="34" charset="-122"/>
                <a:cs typeface="IBM Plex Sans" pitchFamily="34" charset="-120"/>
              </a:rPr>
              <a:t>Sentiment Analysis of IMDB Movie Reviews</a:t>
            </a:r>
            <a:endParaRPr lang="en-US" sz="4400" dirty="0"/>
          </a:p>
        </p:txBody>
      </p:sp>
      <p:sp>
        <p:nvSpPr>
          <p:cNvPr id="7" name="Text 2"/>
          <p:cNvSpPr/>
          <p:nvPr/>
        </p:nvSpPr>
        <p:spPr>
          <a:xfrm>
            <a:off x="812800" y="3754140"/>
            <a:ext cx="588645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9C4D6"/>
                </a:solidFill>
                <a:latin typeface="IBM Plex Sans" pitchFamily="34" charset="0"/>
                <a:ea typeface="IBM Plex Sans" pitchFamily="34" charset="-122"/>
                <a:cs typeface="IBM Plex Sans" pitchFamily="34" charset="-120"/>
              </a:rPr>
              <a:t>SimpleRNN and Bidirectional LSTM in TensorFlow and Keras</a:t>
            </a:r>
            <a:endParaRPr lang="en-US" sz="2000" dirty="0"/>
          </a:p>
        </p:txBody>
      </p:sp>
      <p:sp>
        <p:nvSpPr>
          <p:cNvPr id="8" name="Text 3"/>
          <p:cNvSpPr/>
          <p:nvPr/>
        </p:nvSpPr>
        <p:spPr>
          <a:xfrm>
            <a:off x="812800" y="57607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4D6"/>
                </a:solidFill>
                <a:latin typeface="IBM Plex Sans" pitchFamily="34" charset="0"/>
                <a:ea typeface="IBM Plex Sans" pitchFamily="34" charset="-122"/>
                <a:cs typeface="IBM Plex Sans" pitchFamily="34" charset="-120"/>
              </a:rPr>
              <a:t>[Your name] · [Course or university] ·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6C9"/>
                </a:solidFill>
                <a:latin typeface="IBM Plex Sans" pitchFamily="34" charset="0"/>
                <a:ea typeface="IBM Plex Sans" pitchFamily="34" charset="-122"/>
                <a:cs typeface="IBM Plex Sans" pitchFamily="34" charset="-120"/>
              </a:rPr>
              <a:t>PROBLEM</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Predicting review sentiment</a:t>
            </a:r>
            <a:endParaRPr lang="en-US" sz="3200" dirty="0"/>
          </a:p>
        </p:txBody>
      </p:sp>
      <p:sp>
        <p:nvSpPr>
          <p:cNvPr id="4" name="Text 2"/>
          <p:cNvSpPr/>
          <p:nvPr/>
        </p:nvSpPr>
        <p:spPr>
          <a:xfrm>
            <a:off x="812800" y="1854101"/>
            <a:ext cx="915670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0F1B2D"/>
                </a:solidFill>
                <a:latin typeface="IBM Plex Sans" pitchFamily="34" charset="0"/>
                <a:ea typeface="IBM Plex Sans" pitchFamily="34" charset="-122"/>
                <a:cs typeface="IBM Plex Sans" pitchFamily="34" charset="-120"/>
              </a:rPr>
              <a:t>Binary text classification: given a movie review, decide whether the reviewer felt positively or negatively.</a:t>
            </a:r>
            <a:endParaRPr lang="en-US" sz="2000" dirty="0"/>
          </a:p>
        </p:txBody>
      </p:sp>
      <p:sp>
        <p:nvSpPr>
          <p:cNvPr id="5" name="Shape 3"/>
          <p:cNvSpPr/>
          <p:nvPr/>
        </p:nvSpPr>
        <p:spPr>
          <a:xfrm>
            <a:off x="815975" y="2873276"/>
            <a:ext cx="3380284" cy="1748730"/>
          </a:xfrm>
          <a:prstGeom prst="roundRect">
            <a:avLst>
              <a:gd name="adj" fmla="val 5628"/>
            </a:avLst>
          </a:prstGeom>
          <a:solidFill>
            <a:srgbClr val="FFFDF8"/>
          </a:solidFill>
          <a:ln w="6350">
            <a:solidFill>
              <a:srgbClr val="D6D2C4"/>
            </a:solidFill>
            <a:prstDash val="solid"/>
          </a:ln>
        </p:spPr>
      </p:sp>
      <p:sp>
        <p:nvSpPr>
          <p:cNvPr id="6" name="Text 4"/>
          <p:cNvSpPr/>
          <p:nvPr/>
        </p:nvSpPr>
        <p:spPr>
          <a:xfrm>
            <a:off x="1073150" y="3130451"/>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Input</a:t>
            </a:r>
            <a:endParaRPr lang="en-US" sz="2000" dirty="0"/>
          </a:p>
        </p:txBody>
      </p:sp>
      <p:sp>
        <p:nvSpPr>
          <p:cNvPr id="7" name="Text 5"/>
          <p:cNvSpPr/>
          <p:nvPr/>
        </p:nvSpPr>
        <p:spPr>
          <a:xfrm>
            <a:off x="1073150" y="3511451"/>
            <a:ext cx="295191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Free text of any length, written in the reviewer’s own words.</a:t>
            </a:r>
            <a:endParaRPr lang="en-US" sz="1600" dirty="0"/>
          </a:p>
        </p:txBody>
      </p:sp>
      <p:sp>
        <p:nvSpPr>
          <p:cNvPr id="8" name="Shape 6"/>
          <p:cNvSpPr/>
          <p:nvPr/>
        </p:nvSpPr>
        <p:spPr>
          <a:xfrm>
            <a:off x="4405809" y="2873276"/>
            <a:ext cx="3380383" cy="1748730"/>
          </a:xfrm>
          <a:prstGeom prst="roundRect">
            <a:avLst>
              <a:gd name="adj" fmla="val 5628"/>
            </a:avLst>
          </a:prstGeom>
          <a:solidFill>
            <a:srgbClr val="FFFDF8"/>
          </a:solidFill>
          <a:ln w="6350">
            <a:solidFill>
              <a:srgbClr val="D6D2C4"/>
            </a:solidFill>
            <a:prstDash val="solid"/>
          </a:ln>
        </p:spPr>
      </p:sp>
      <p:sp>
        <p:nvSpPr>
          <p:cNvPr id="9" name="Text 7"/>
          <p:cNvSpPr/>
          <p:nvPr/>
        </p:nvSpPr>
        <p:spPr>
          <a:xfrm>
            <a:off x="4662984" y="3130451"/>
            <a:ext cx="295201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Output</a:t>
            </a:r>
            <a:endParaRPr lang="en-US" sz="2000" dirty="0"/>
          </a:p>
        </p:txBody>
      </p:sp>
      <p:sp>
        <p:nvSpPr>
          <p:cNvPr id="10" name="Text 8"/>
          <p:cNvSpPr/>
          <p:nvPr/>
        </p:nvSpPr>
        <p:spPr>
          <a:xfrm>
            <a:off x="4662984" y="3511451"/>
            <a:ext cx="295201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A probability of positive sentiment, turned into one label at a 0.5 threshold.</a:t>
            </a:r>
            <a:endParaRPr lang="en-US" sz="1600" dirty="0"/>
          </a:p>
        </p:txBody>
      </p:sp>
      <p:sp>
        <p:nvSpPr>
          <p:cNvPr id="11" name="Shape 9"/>
          <p:cNvSpPr/>
          <p:nvPr/>
        </p:nvSpPr>
        <p:spPr>
          <a:xfrm>
            <a:off x="7995741" y="2873276"/>
            <a:ext cx="3380284" cy="1748730"/>
          </a:xfrm>
          <a:prstGeom prst="roundRect">
            <a:avLst>
              <a:gd name="adj" fmla="val 5628"/>
            </a:avLst>
          </a:prstGeom>
          <a:solidFill>
            <a:srgbClr val="FFFDF8"/>
          </a:solidFill>
          <a:ln w="6350">
            <a:solidFill>
              <a:srgbClr val="D6D2C4"/>
            </a:solidFill>
            <a:prstDash val="solid"/>
          </a:ln>
        </p:spPr>
      </p:sp>
      <p:sp>
        <p:nvSpPr>
          <p:cNvPr id="12" name="Text 10"/>
          <p:cNvSpPr/>
          <p:nvPr/>
        </p:nvSpPr>
        <p:spPr>
          <a:xfrm>
            <a:off x="8252916" y="3130451"/>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Goal</a:t>
            </a:r>
            <a:endParaRPr lang="en-US" sz="2000" dirty="0"/>
          </a:p>
        </p:txBody>
      </p:sp>
      <p:sp>
        <p:nvSpPr>
          <p:cNvPr id="13" name="Text 11"/>
          <p:cNvSpPr/>
          <p:nvPr/>
        </p:nvSpPr>
        <p:spPr>
          <a:xfrm>
            <a:off x="8252916" y="3511451"/>
            <a:ext cx="295191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Learn word order and context, not only which words appear.</a:t>
            </a:r>
            <a:endParaRPr lang="en-US" sz="1600" dirty="0"/>
          </a:p>
        </p:txBody>
      </p:sp>
      <p:sp>
        <p:nvSpPr>
          <p:cNvPr id="14" name="Text 1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IMDB sentiment analysis with RNN and LSTM</a:t>
            </a:r>
            <a:endParaRPr lang="en-US" sz="1200" dirty="0"/>
          </a:p>
        </p:txBody>
      </p:sp>
      <p:sp>
        <p:nvSpPr>
          <p:cNvPr id="15" name="Text 13"/>
          <p:cNvSpPr/>
          <p:nvPr/>
        </p:nvSpPr>
        <p:spPr>
          <a:xfrm>
            <a:off x="10515600" y="6238280"/>
            <a:ext cx="863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6C9"/>
                </a:solidFill>
                <a:latin typeface="IBM Plex Sans" pitchFamily="34" charset="0"/>
                <a:ea typeface="IBM Plex Sans" pitchFamily="34" charset="-122"/>
                <a:cs typeface="IBM Plex Sans" pitchFamily="34" charset="-120"/>
              </a:rPr>
              <a:t>DATA</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IMDB movie review dataset</a:t>
            </a:r>
            <a:endParaRPr lang="en-US" sz="3200" dirty="0"/>
          </a:p>
        </p:txBody>
      </p:sp>
      <p:sp>
        <p:nvSpPr>
          <p:cNvPr id="4" name="Shape 2"/>
          <p:cNvSpPr/>
          <p:nvPr/>
        </p:nvSpPr>
        <p:spPr>
          <a:xfrm>
            <a:off x="815975" y="1857276"/>
            <a:ext cx="2482850" cy="1606451"/>
          </a:xfrm>
          <a:prstGeom prst="roundRect">
            <a:avLst>
              <a:gd name="adj" fmla="val 6127"/>
            </a:avLst>
          </a:prstGeom>
          <a:solidFill>
            <a:srgbClr val="FFFDF8"/>
          </a:solidFill>
          <a:ln w="6350">
            <a:solidFill>
              <a:srgbClr val="D6D2C4"/>
            </a:solidFill>
            <a:prstDash val="solid"/>
          </a:ln>
        </p:spPr>
      </p:sp>
      <p:sp>
        <p:nvSpPr>
          <p:cNvPr id="5" name="Text 3"/>
          <p:cNvSpPr/>
          <p:nvPr/>
        </p:nvSpPr>
        <p:spPr>
          <a:xfrm>
            <a:off x="1073150" y="2114451"/>
            <a:ext cx="2027555"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456C9"/>
                </a:solidFill>
                <a:latin typeface="IBM Plex Sans" pitchFamily="34" charset="0"/>
                <a:ea typeface="IBM Plex Sans" pitchFamily="34" charset="-122"/>
                <a:cs typeface="IBM Plex Sans" pitchFamily="34" charset="-120"/>
              </a:rPr>
              <a:t>50,000</a:t>
            </a:r>
            <a:endParaRPr lang="en-US" sz="3200" dirty="0"/>
          </a:p>
        </p:txBody>
      </p:sp>
      <p:sp>
        <p:nvSpPr>
          <p:cNvPr id="6" name="Text 4"/>
          <p:cNvSpPr/>
          <p:nvPr/>
        </p:nvSpPr>
        <p:spPr>
          <a:xfrm>
            <a:off x="1073150" y="2637631"/>
            <a:ext cx="202755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labeled reviews</a:t>
            </a:r>
            <a:endParaRPr lang="en-US" sz="1600" dirty="0"/>
          </a:p>
        </p:txBody>
      </p:sp>
      <p:sp>
        <p:nvSpPr>
          <p:cNvPr id="7" name="Shape 5"/>
          <p:cNvSpPr/>
          <p:nvPr/>
        </p:nvSpPr>
        <p:spPr>
          <a:xfrm>
            <a:off x="3508375" y="1857276"/>
            <a:ext cx="2482850" cy="1606451"/>
          </a:xfrm>
          <a:prstGeom prst="roundRect">
            <a:avLst>
              <a:gd name="adj" fmla="val 6127"/>
            </a:avLst>
          </a:prstGeom>
          <a:solidFill>
            <a:srgbClr val="FFFDF8"/>
          </a:solidFill>
          <a:ln w="6350">
            <a:solidFill>
              <a:srgbClr val="D6D2C4"/>
            </a:solidFill>
            <a:prstDash val="solid"/>
          </a:ln>
        </p:spPr>
      </p:sp>
      <p:sp>
        <p:nvSpPr>
          <p:cNvPr id="8" name="Text 6"/>
          <p:cNvSpPr/>
          <p:nvPr/>
        </p:nvSpPr>
        <p:spPr>
          <a:xfrm>
            <a:off x="3765550" y="2114451"/>
            <a:ext cx="2027555"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456C9"/>
                </a:solidFill>
                <a:latin typeface="IBM Plex Sans" pitchFamily="34" charset="0"/>
                <a:ea typeface="IBM Plex Sans" pitchFamily="34" charset="-122"/>
                <a:cs typeface="IBM Plex Sans" pitchFamily="34" charset="-120"/>
              </a:rPr>
              <a:t>25,000</a:t>
            </a:r>
            <a:endParaRPr lang="en-US" sz="3200" dirty="0"/>
          </a:p>
        </p:txBody>
      </p:sp>
      <p:sp>
        <p:nvSpPr>
          <p:cNvPr id="9" name="Text 7"/>
          <p:cNvSpPr/>
          <p:nvPr/>
        </p:nvSpPr>
        <p:spPr>
          <a:xfrm>
            <a:off x="3765550" y="2637631"/>
            <a:ext cx="2027555"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for training and 25,000 for testing</a:t>
            </a:r>
            <a:endParaRPr lang="en-US" sz="1600" dirty="0"/>
          </a:p>
        </p:txBody>
      </p:sp>
      <p:sp>
        <p:nvSpPr>
          <p:cNvPr id="10" name="Shape 8"/>
          <p:cNvSpPr/>
          <p:nvPr/>
        </p:nvSpPr>
        <p:spPr>
          <a:xfrm>
            <a:off x="6200775" y="1857276"/>
            <a:ext cx="2482850" cy="1606451"/>
          </a:xfrm>
          <a:prstGeom prst="roundRect">
            <a:avLst>
              <a:gd name="adj" fmla="val 6127"/>
            </a:avLst>
          </a:prstGeom>
          <a:solidFill>
            <a:srgbClr val="FFFDF8"/>
          </a:solidFill>
          <a:ln w="6350">
            <a:solidFill>
              <a:srgbClr val="D6D2C4"/>
            </a:solidFill>
            <a:prstDash val="solid"/>
          </a:ln>
        </p:spPr>
      </p:sp>
      <p:sp>
        <p:nvSpPr>
          <p:cNvPr id="11" name="Text 9"/>
          <p:cNvSpPr/>
          <p:nvPr/>
        </p:nvSpPr>
        <p:spPr>
          <a:xfrm>
            <a:off x="6457950" y="2114451"/>
            <a:ext cx="2027555"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456C9"/>
                </a:solidFill>
                <a:latin typeface="IBM Plex Sans" pitchFamily="34" charset="0"/>
                <a:ea typeface="IBM Plex Sans" pitchFamily="34" charset="-122"/>
                <a:cs typeface="IBM Plex Sans" pitchFamily="34" charset="-120"/>
              </a:rPr>
              <a:t>10,000</a:t>
            </a:r>
            <a:endParaRPr lang="en-US" sz="3200" dirty="0"/>
          </a:p>
        </p:txBody>
      </p:sp>
      <p:sp>
        <p:nvSpPr>
          <p:cNvPr id="12" name="Text 10"/>
          <p:cNvSpPr/>
          <p:nvPr/>
        </p:nvSpPr>
        <p:spPr>
          <a:xfrm>
            <a:off x="6457950" y="2637631"/>
            <a:ext cx="2027555"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most frequent words kept</a:t>
            </a:r>
            <a:endParaRPr lang="en-US" sz="1600" dirty="0"/>
          </a:p>
        </p:txBody>
      </p:sp>
      <p:sp>
        <p:nvSpPr>
          <p:cNvPr id="13" name="Shape 11"/>
          <p:cNvSpPr/>
          <p:nvPr/>
        </p:nvSpPr>
        <p:spPr>
          <a:xfrm>
            <a:off x="8893175" y="1857276"/>
            <a:ext cx="2482850" cy="1606451"/>
          </a:xfrm>
          <a:prstGeom prst="roundRect">
            <a:avLst>
              <a:gd name="adj" fmla="val 6127"/>
            </a:avLst>
          </a:prstGeom>
          <a:solidFill>
            <a:srgbClr val="FFFDF8"/>
          </a:solidFill>
          <a:ln w="6350">
            <a:solidFill>
              <a:srgbClr val="D6D2C4"/>
            </a:solidFill>
            <a:prstDash val="solid"/>
          </a:ln>
        </p:spPr>
      </p:sp>
      <p:sp>
        <p:nvSpPr>
          <p:cNvPr id="14" name="Text 12"/>
          <p:cNvSpPr/>
          <p:nvPr/>
        </p:nvSpPr>
        <p:spPr>
          <a:xfrm>
            <a:off x="9150350" y="2114451"/>
            <a:ext cx="2027555"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456C9"/>
                </a:solidFill>
                <a:latin typeface="IBM Plex Sans" pitchFamily="34" charset="0"/>
                <a:ea typeface="IBM Plex Sans" pitchFamily="34" charset="-122"/>
                <a:cs typeface="IBM Plex Sans" pitchFamily="34" charset="-120"/>
              </a:rPr>
              <a:t>200</a:t>
            </a:r>
            <a:endParaRPr lang="en-US" sz="3200" dirty="0"/>
          </a:p>
        </p:txBody>
      </p:sp>
      <p:sp>
        <p:nvSpPr>
          <p:cNvPr id="15" name="Text 13"/>
          <p:cNvSpPr/>
          <p:nvPr/>
        </p:nvSpPr>
        <p:spPr>
          <a:xfrm>
            <a:off x="9150350" y="2637631"/>
            <a:ext cx="2027555"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tokens per review after padding</a:t>
            </a:r>
            <a:endParaRPr lang="en-US" sz="1600" dirty="0"/>
          </a:p>
        </p:txBody>
      </p:sp>
      <p:sp>
        <p:nvSpPr>
          <p:cNvPr id="16" name="Text 14"/>
          <p:cNvSpPr/>
          <p:nvPr/>
        </p:nvSpPr>
        <p:spPr>
          <a:xfrm>
            <a:off x="812800" y="3771702"/>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Each review is stored as a list of word indices, and the label is 0 for negative or 1 for positive. The two classes are balanced, so accuracy is a fair headline metric.</a:t>
            </a:r>
            <a:endParaRPr lang="en-US" sz="1600" dirty="0"/>
          </a:p>
        </p:txBody>
      </p:sp>
      <p:sp>
        <p:nvSpPr>
          <p:cNvPr id="17"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IMDB sentiment analysis with RNN and LSTM</a:t>
            </a:r>
            <a:endParaRPr lang="en-US" sz="1200" dirty="0"/>
          </a:p>
        </p:txBody>
      </p:sp>
      <p:sp>
        <p:nvSpPr>
          <p:cNvPr id="18" name="Text 16"/>
          <p:cNvSpPr/>
          <p:nvPr/>
        </p:nvSpPr>
        <p:spPr>
          <a:xfrm>
            <a:off x="10515600" y="6238280"/>
            <a:ext cx="863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6C9"/>
                </a:solidFill>
                <a:latin typeface="IBM Plex Sans" pitchFamily="34" charset="0"/>
                <a:ea typeface="IBM Plex Sans" pitchFamily="34" charset="-122"/>
                <a:cs typeface="IBM Plex Sans" pitchFamily="34" charset="-120"/>
              </a:rPr>
              <a:t>METHOD</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End-to-end pipeline</a:t>
            </a:r>
            <a:endParaRPr lang="en-US" sz="3200" dirty="0"/>
          </a:p>
        </p:txBody>
      </p:sp>
      <p:sp>
        <p:nvSpPr>
          <p:cNvPr id="4" name="Shape 2"/>
          <p:cNvSpPr/>
          <p:nvPr/>
        </p:nvSpPr>
        <p:spPr>
          <a:xfrm>
            <a:off x="815975" y="1857276"/>
            <a:ext cx="1781770" cy="1377752"/>
          </a:xfrm>
          <a:prstGeom prst="roundRect">
            <a:avLst>
              <a:gd name="adj" fmla="val 7144"/>
            </a:avLst>
          </a:prstGeom>
          <a:solidFill>
            <a:srgbClr val="FFFDF8"/>
          </a:solidFill>
          <a:ln w="6350">
            <a:solidFill>
              <a:srgbClr val="D6D2C4"/>
            </a:solidFill>
            <a:prstDash val="solid"/>
          </a:ln>
        </p:spPr>
      </p:sp>
      <p:sp>
        <p:nvSpPr>
          <p:cNvPr id="5" name="Text 3"/>
          <p:cNvSpPr/>
          <p:nvPr/>
        </p:nvSpPr>
        <p:spPr>
          <a:xfrm>
            <a:off x="946150" y="2012851"/>
            <a:ext cx="15722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9"/>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946150" y="2302371"/>
            <a:ext cx="15722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Raw review</a:t>
            </a:r>
            <a:endParaRPr lang="en-US" sz="1600" dirty="0"/>
          </a:p>
        </p:txBody>
      </p:sp>
      <p:sp>
        <p:nvSpPr>
          <p:cNvPr id="7" name="Text 5"/>
          <p:cNvSpPr/>
          <p:nvPr/>
        </p:nvSpPr>
        <p:spPr>
          <a:xfrm>
            <a:off x="946150" y="2622352"/>
            <a:ext cx="15722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From the Keras IMDB dataset</a:t>
            </a:r>
            <a:endParaRPr lang="en-US" sz="1200" dirty="0"/>
          </a:p>
        </p:txBody>
      </p:sp>
      <p:pic>
        <p:nvPicPr>
          <p:cNvPr id="8" name="Image 0" descr="arrow-right">    </p:cNvPr>
          <p:cNvPicPr>
            <a:picLocks noChangeAspect="1"/>
          </p:cNvPicPr>
          <p:nvPr/>
        </p:nvPicPr>
        <p:blipFill>
          <a:blip r:embed="rId1"/>
          <a:srcRect l="0" r="0" t="0" b="0"/>
          <a:stretch/>
        </p:blipFill>
        <p:spPr>
          <a:xfrm>
            <a:off x="2677120" y="2482652"/>
            <a:ext cx="254000" cy="127000"/>
          </a:xfrm>
          <a:prstGeom prst="rect">
            <a:avLst/>
          </a:prstGeom>
        </p:spPr>
      </p:pic>
      <p:sp>
        <p:nvSpPr>
          <p:cNvPr id="9" name="Shape 6"/>
          <p:cNvSpPr/>
          <p:nvPr/>
        </p:nvSpPr>
        <p:spPr>
          <a:xfrm>
            <a:off x="3010495" y="1857276"/>
            <a:ext cx="1781870" cy="1377752"/>
          </a:xfrm>
          <a:prstGeom prst="roundRect">
            <a:avLst>
              <a:gd name="adj" fmla="val 7144"/>
            </a:avLst>
          </a:prstGeom>
          <a:solidFill>
            <a:srgbClr val="FFFDF8"/>
          </a:solidFill>
          <a:ln w="6350">
            <a:solidFill>
              <a:srgbClr val="D6D2C4"/>
            </a:solidFill>
            <a:prstDash val="solid"/>
          </a:ln>
        </p:spPr>
      </p:sp>
      <p:sp>
        <p:nvSpPr>
          <p:cNvPr id="10" name="Text 7"/>
          <p:cNvSpPr/>
          <p:nvPr/>
        </p:nvSpPr>
        <p:spPr>
          <a:xfrm>
            <a:off x="3140670" y="2012851"/>
            <a:ext cx="15723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9"/>
                </a:solidFill>
                <a:latin typeface="IBM Plex Sans" pitchFamily="34" charset="0"/>
                <a:ea typeface="IBM Plex Sans" pitchFamily="34" charset="-122"/>
                <a:cs typeface="IBM Plex Sans" pitchFamily="34" charset="-120"/>
              </a:rPr>
              <a:t>02</a:t>
            </a:r>
            <a:endParaRPr lang="en-US" sz="1200" dirty="0"/>
          </a:p>
        </p:txBody>
      </p:sp>
      <p:sp>
        <p:nvSpPr>
          <p:cNvPr id="11" name="Text 8"/>
          <p:cNvSpPr/>
          <p:nvPr/>
        </p:nvSpPr>
        <p:spPr>
          <a:xfrm>
            <a:off x="3140670" y="2302371"/>
            <a:ext cx="16485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Encode and pad</a:t>
            </a:r>
            <a:endParaRPr lang="en-US" sz="1600" dirty="0"/>
          </a:p>
        </p:txBody>
      </p:sp>
      <p:sp>
        <p:nvSpPr>
          <p:cNvPr id="12" name="Text 9"/>
          <p:cNvSpPr/>
          <p:nvPr/>
        </p:nvSpPr>
        <p:spPr>
          <a:xfrm>
            <a:off x="3140670" y="2622352"/>
            <a:ext cx="15723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Top 10,000 words, 200 tokens</a:t>
            </a:r>
            <a:endParaRPr lang="en-US" sz="1200" dirty="0"/>
          </a:p>
        </p:txBody>
      </p:sp>
      <p:pic>
        <p:nvPicPr>
          <p:cNvPr id="13" name="Image 1" descr="arrow-right">    </p:cNvPr>
          <p:cNvPicPr>
            <a:picLocks noChangeAspect="1"/>
          </p:cNvPicPr>
          <p:nvPr/>
        </p:nvPicPr>
        <p:blipFill>
          <a:blip r:embed="rId2"/>
          <a:srcRect l="0" r="0" t="0" b="0"/>
          <a:stretch/>
        </p:blipFill>
        <p:spPr>
          <a:xfrm>
            <a:off x="4871740" y="2482652"/>
            <a:ext cx="254000" cy="127000"/>
          </a:xfrm>
          <a:prstGeom prst="rect">
            <a:avLst/>
          </a:prstGeom>
        </p:spPr>
      </p:pic>
      <p:sp>
        <p:nvSpPr>
          <p:cNvPr id="14" name="Shape 10"/>
          <p:cNvSpPr/>
          <p:nvPr/>
        </p:nvSpPr>
        <p:spPr>
          <a:xfrm>
            <a:off x="5205115" y="1857276"/>
            <a:ext cx="1781770" cy="1377752"/>
          </a:xfrm>
          <a:prstGeom prst="roundRect">
            <a:avLst>
              <a:gd name="adj" fmla="val 7144"/>
            </a:avLst>
          </a:prstGeom>
          <a:solidFill>
            <a:srgbClr val="FFFDF8"/>
          </a:solidFill>
          <a:ln w="6350">
            <a:solidFill>
              <a:srgbClr val="D6D2C4"/>
            </a:solidFill>
            <a:prstDash val="solid"/>
          </a:ln>
        </p:spPr>
      </p:sp>
      <p:sp>
        <p:nvSpPr>
          <p:cNvPr id="15" name="Text 11"/>
          <p:cNvSpPr/>
          <p:nvPr/>
        </p:nvSpPr>
        <p:spPr>
          <a:xfrm>
            <a:off x="5335290" y="2012851"/>
            <a:ext cx="15722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9"/>
                </a:solidFill>
                <a:latin typeface="IBM Plex Sans" pitchFamily="34" charset="0"/>
                <a:ea typeface="IBM Plex Sans" pitchFamily="34" charset="-122"/>
                <a:cs typeface="IBM Plex Sans" pitchFamily="34" charset="-120"/>
              </a:rPr>
              <a:t>03</a:t>
            </a:r>
            <a:endParaRPr lang="en-US" sz="1200" dirty="0"/>
          </a:p>
        </p:txBody>
      </p:sp>
      <p:sp>
        <p:nvSpPr>
          <p:cNvPr id="16" name="Text 12"/>
          <p:cNvSpPr/>
          <p:nvPr/>
        </p:nvSpPr>
        <p:spPr>
          <a:xfrm>
            <a:off x="5335290" y="2302371"/>
            <a:ext cx="15722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Embedding</a:t>
            </a:r>
            <a:endParaRPr lang="en-US" sz="1600" dirty="0"/>
          </a:p>
        </p:txBody>
      </p:sp>
      <p:sp>
        <p:nvSpPr>
          <p:cNvPr id="17" name="Text 13"/>
          <p:cNvSpPr/>
          <p:nvPr/>
        </p:nvSpPr>
        <p:spPr>
          <a:xfrm>
            <a:off x="5335290" y="2622352"/>
            <a:ext cx="15722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128-dimensional word vectors</a:t>
            </a:r>
            <a:endParaRPr lang="en-US" sz="1200" dirty="0"/>
          </a:p>
        </p:txBody>
      </p:sp>
      <p:pic>
        <p:nvPicPr>
          <p:cNvPr id="18" name="Image 2" descr="arrow-right">    </p:cNvPr>
          <p:cNvPicPr>
            <a:picLocks noChangeAspect="1"/>
          </p:cNvPicPr>
          <p:nvPr/>
        </p:nvPicPr>
        <p:blipFill>
          <a:blip r:embed="rId3"/>
          <a:srcRect l="0" r="0" t="0" b="0"/>
          <a:stretch/>
        </p:blipFill>
        <p:spPr>
          <a:xfrm>
            <a:off x="7066260" y="2482652"/>
            <a:ext cx="254000" cy="127000"/>
          </a:xfrm>
          <a:prstGeom prst="rect">
            <a:avLst/>
          </a:prstGeom>
        </p:spPr>
      </p:pic>
      <p:sp>
        <p:nvSpPr>
          <p:cNvPr id="19" name="Shape 14"/>
          <p:cNvSpPr/>
          <p:nvPr/>
        </p:nvSpPr>
        <p:spPr>
          <a:xfrm>
            <a:off x="7399635" y="1857276"/>
            <a:ext cx="1781870" cy="1377752"/>
          </a:xfrm>
          <a:prstGeom prst="roundRect">
            <a:avLst>
              <a:gd name="adj" fmla="val 7144"/>
            </a:avLst>
          </a:prstGeom>
          <a:solidFill>
            <a:srgbClr val="FFFDF8"/>
          </a:solidFill>
          <a:ln w="6350">
            <a:solidFill>
              <a:srgbClr val="D6D2C4"/>
            </a:solidFill>
            <a:prstDash val="solid"/>
          </a:ln>
        </p:spPr>
      </p:sp>
      <p:sp>
        <p:nvSpPr>
          <p:cNvPr id="20" name="Text 15"/>
          <p:cNvSpPr/>
          <p:nvPr/>
        </p:nvSpPr>
        <p:spPr>
          <a:xfrm>
            <a:off x="7529810" y="2012851"/>
            <a:ext cx="15723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9"/>
                </a:solidFill>
                <a:latin typeface="IBM Plex Sans" pitchFamily="34" charset="0"/>
                <a:ea typeface="IBM Plex Sans" pitchFamily="34" charset="-122"/>
                <a:cs typeface="IBM Plex Sans" pitchFamily="34" charset="-120"/>
              </a:rPr>
              <a:t>04</a:t>
            </a:r>
            <a:endParaRPr lang="en-US" sz="1200" dirty="0"/>
          </a:p>
        </p:txBody>
      </p:sp>
      <p:sp>
        <p:nvSpPr>
          <p:cNvPr id="21" name="Text 16"/>
          <p:cNvSpPr/>
          <p:nvPr/>
        </p:nvSpPr>
        <p:spPr>
          <a:xfrm>
            <a:off x="7529810" y="2302371"/>
            <a:ext cx="15723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RNN or LSTM</a:t>
            </a:r>
            <a:endParaRPr lang="en-US" sz="1600" dirty="0"/>
          </a:p>
        </p:txBody>
      </p:sp>
      <p:sp>
        <p:nvSpPr>
          <p:cNvPr id="22" name="Text 17"/>
          <p:cNvSpPr/>
          <p:nvPr/>
        </p:nvSpPr>
        <p:spPr>
          <a:xfrm>
            <a:off x="7529810" y="2622352"/>
            <a:ext cx="15723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64 units, two models compared</a:t>
            </a:r>
            <a:endParaRPr lang="en-US" sz="1200" dirty="0"/>
          </a:p>
        </p:txBody>
      </p:sp>
      <p:pic>
        <p:nvPicPr>
          <p:cNvPr id="23" name="Image 3" descr="arrow-right">    </p:cNvPr>
          <p:cNvPicPr>
            <a:picLocks noChangeAspect="1"/>
          </p:cNvPicPr>
          <p:nvPr/>
        </p:nvPicPr>
        <p:blipFill>
          <a:blip r:embed="rId4"/>
          <a:srcRect l="0" r="0" t="0" b="0"/>
          <a:stretch/>
        </p:blipFill>
        <p:spPr>
          <a:xfrm>
            <a:off x="9260880" y="2482652"/>
            <a:ext cx="254000" cy="127000"/>
          </a:xfrm>
          <a:prstGeom prst="rect">
            <a:avLst/>
          </a:prstGeom>
        </p:spPr>
      </p:pic>
      <p:sp>
        <p:nvSpPr>
          <p:cNvPr id="24" name="Shape 18"/>
          <p:cNvSpPr/>
          <p:nvPr/>
        </p:nvSpPr>
        <p:spPr>
          <a:xfrm>
            <a:off x="9594255" y="1857276"/>
            <a:ext cx="1781770" cy="1377752"/>
          </a:xfrm>
          <a:prstGeom prst="roundRect">
            <a:avLst>
              <a:gd name="adj" fmla="val 7144"/>
            </a:avLst>
          </a:prstGeom>
          <a:solidFill>
            <a:srgbClr val="FFFDF8"/>
          </a:solidFill>
          <a:ln w="6350">
            <a:solidFill>
              <a:srgbClr val="D6D2C4"/>
            </a:solidFill>
            <a:prstDash val="solid"/>
          </a:ln>
        </p:spPr>
      </p:sp>
      <p:sp>
        <p:nvSpPr>
          <p:cNvPr id="25" name="Text 19"/>
          <p:cNvSpPr/>
          <p:nvPr/>
        </p:nvSpPr>
        <p:spPr>
          <a:xfrm>
            <a:off x="9724430" y="2012851"/>
            <a:ext cx="15722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9"/>
                </a:solidFill>
                <a:latin typeface="IBM Plex Sans" pitchFamily="34" charset="0"/>
                <a:ea typeface="IBM Plex Sans" pitchFamily="34" charset="-122"/>
                <a:cs typeface="IBM Plex Sans" pitchFamily="34" charset="-120"/>
              </a:rPr>
              <a:t>05</a:t>
            </a:r>
            <a:endParaRPr lang="en-US" sz="1200" dirty="0"/>
          </a:p>
        </p:txBody>
      </p:sp>
      <p:sp>
        <p:nvSpPr>
          <p:cNvPr id="26" name="Text 20"/>
          <p:cNvSpPr/>
          <p:nvPr/>
        </p:nvSpPr>
        <p:spPr>
          <a:xfrm>
            <a:off x="9724430" y="2302371"/>
            <a:ext cx="1572220"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Dense and sigmoid</a:t>
            </a:r>
            <a:endParaRPr lang="en-US" sz="1600" dirty="0"/>
          </a:p>
        </p:txBody>
      </p:sp>
      <p:sp>
        <p:nvSpPr>
          <p:cNvPr id="27" name="Text 21"/>
          <p:cNvSpPr/>
          <p:nvPr/>
        </p:nvSpPr>
        <p:spPr>
          <a:xfrm>
            <a:off x="9724430" y="2866132"/>
            <a:ext cx="15722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Probability of positive</a:t>
            </a:r>
            <a:endParaRPr lang="en-US" sz="1200" dirty="0"/>
          </a:p>
        </p:txBody>
      </p:sp>
      <p:sp>
        <p:nvSpPr>
          <p:cNvPr id="28" name="Text 22"/>
          <p:cNvSpPr/>
          <p:nvPr/>
        </p:nvSpPr>
        <p:spPr>
          <a:xfrm>
            <a:off x="812800" y="3543002"/>
            <a:ext cx="10566400" cy="690860"/>
          </a:xfrm>
          <a:prstGeom prst="roundRect">
            <a:avLst>
              <a:gd name="adj" fmla="val 14706"/>
            </a:avLst>
          </a:prstGeom>
          <a:solidFill>
            <a:srgbClr val="0F1B2D"/>
          </a:solidFill>
          <a:ln/>
        </p:spPr>
        <p:txBody>
          <a:bodyPr wrap="square" lIns="224242" tIns="173442" rIns="0" bIns="148042" rtlCol="0" anchor="t">
            <a:normAutofit/>
          </a:bodyPr>
          <a:lstStyle/>
          <a:p>
            <a:pPr algn="l" indent="0" marL="0">
              <a:lnSpc>
                <a:spcPts val="2240"/>
              </a:lnSpc>
              <a:buNone/>
            </a:pPr>
            <a:r>
              <a:rPr lang="en-US" sz="1600" dirty="0">
                <a:solidFill>
                  <a:srgbClr val="F6F4EE"/>
                </a:solidFill>
                <a:latin typeface="IBM Plex Sans" pitchFamily="34" charset="0"/>
                <a:ea typeface="IBM Plex Sans" pitchFamily="34" charset="-122"/>
                <a:cs typeface="IBM Plex Sans" pitchFamily="34" charset="-120"/>
              </a:rPr>
              <a:t>The network outputs P(positive). A review is labelled positive when that probability is at least 0.5.</a:t>
            </a:r>
            <a:endParaRPr lang="en-US" sz="1600" dirty="0"/>
          </a:p>
        </p:txBody>
      </p:sp>
      <p:sp>
        <p:nvSpPr>
          <p:cNvPr id="29"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IMDB sentiment analysis with RNN and LSTM</a:t>
            </a:r>
            <a:endParaRPr lang="en-US" sz="1200" dirty="0"/>
          </a:p>
        </p:txBody>
      </p:sp>
      <p:sp>
        <p:nvSpPr>
          <p:cNvPr id="30" name="Text 24"/>
          <p:cNvSpPr/>
          <p:nvPr/>
        </p:nvSpPr>
        <p:spPr>
          <a:xfrm>
            <a:off x="10515600" y="6238280"/>
            <a:ext cx="863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6C9"/>
                </a:solidFill>
                <a:latin typeface="IBM Plex Sans" pitchFamily="34" charset="0"/>
                <a:ea typeface="IBM Plex Sans" pitchFamily="34" charset="-122"/>
                <a:cs typeface="IBM Plex Sans" pitchFamily="34" charset="-120"/>
              </a:rPr>
              <a:t>METHOD</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Why recurrent models for text</a:t>
            </a:r>
            <a:endParaRPr lang="en-US" sz="3200" dirty="0"/>
          </a:p>
        </p:txBody>
      </p:sp>
      <p:sp>
        <p:nvSpPr>
          <p:cNvPr id="4" name="Shape 2"/>
          <p:cNvSpPr/>
          <p:nvPr/>
        </p:nvSpPr>
        <p:spPr>
          <a:xfrm>
            <a:off x="815975" y="1857276"/>
            <a:ext cx="3384550" cy="2033191"/>
          </a:xfrm>
          <a:prstGeom prst="roundRect">
            <a:avLst>
              <a:gd name="adj" fmla="val 4841"/>
            </a:avLst>
          </a:prstGeom>
          <a:solidFill>
            <a:srgbClr val="FFFDF8"/>
          </a:solidFill>
          <a:ln w="6350">
            <a:solidFill>
              <a:srgbClr val="D6D2C4"/>
            </a:solidFill>
            <a:prstDash val="solid"/>
          </a:ln>
        </p:spPr>
      </p:sp>
      <p:sp>
        <p:nvSpPr>
          <p:cNvPr id="5" name="Text 3"/>
          <p:cNvSpPr/>
          <p:nvPr/>
        </p:nvSpPr>
        <p:spPr>
          <a:xfrm>
            <a:off x="1073150" y="2114451"/>
            <a:ext cx="295630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SimpleRNN</a:t>
            </a:r>
            <a:endParaRPr lang="en-US" sz="2000" dirty="0"/>
          </a:p>
        </p:txBody>
      </p:sp>
      <p:sp>
        <p:nvSpPr>
          <p:cNvPr id="6" name="Text 4"/>
          <p:cNvSpPr/>
          <p:nvPr/>
        </p:nvSpPr>
        <p:spPr>
          <a:xfrm>
            <a:off x="1073150" y="2495451"/>
            <a:ext cx="2956306"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Passes a hidden state from word to word. Gradients fade over long reviews, so early context is easily lost.</a:t>
            </a:r>
            <a:endParaRPr lang="en-US" sz="1600" dirty="0"/>
          </a:p>
        </p:txBody>
      </p:sp>
      <p:sp>
        <p:nvSpPr>
          <p:cNvPr id="7" name="Shape 5"/>
          <p:cNvSpPr/>
          <p:nvPr/>
        </p:nvSpPr>
        <p:spPr>
          <a:xfrm>
            <a:off x="4410075" y="1857276"/>
            <a:ext cx="3384550" cy="2033191"/>
          </a:xfrm>
          <a:prstGeom prst="roundRect">
            <a:avLst>
              <a:gd name="adj" fmla="val 4841"/>
            </a:avLst>
          </a:prstGeom>
          <a:solidFill>
            <a:srgbClr val="FFFDF8"/>
          </a:solidFill>
          <a:ln w="6350">
            <a:solidFill>
              <a:srgbClr val="D6D2C4"/>
            </a:solidFill>
            <a:prstDash val="solid"/>
          </a:ln>
        </p:spPr>
      </p:sp>
      <p:sp>
        <p:nvSpPr>
          <p:cNvPr id="8" name="Text 6"/>
          <p:cNvSpPr/>
          <p:nvPr/>
        </p:nvSpPr>
        <p:spPr>
          <a:xfrm>
            <a:off x="4667250" y="2114451"/>
            <a:ext cx="295630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LSTM</a:t>
            </a:r>
            <a:endParaRPr lang="en-US" sz="2000" dirty="0"/>
          </a:p>
        </p:txBody>
      </p:sp>
      <p:sp>
        <p:nvSpPr>
          <p:cNvPr id="9" name="Text 7"/>
          <p:cNvSpPr/>
          <p:nvPr/>
        </p:nvSpPr>
        <p:spPr>
          <a:xfrm>
            <a:off x="4667250" y="2495451"/>
            <a:ext cx="2956306"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Gates decide what the cell state keeps, forgets and outputs, which helps preserve context across long reviews.</a:t>
            </a:r>
            <a:endParaRPr lang="en-US" sz="1600" dirty="0"/>
          </a:p>
        </p:txBody>
      </p:sp>
      <p:sp>
        <p:nvSpPr>
          <p:cNvPr id="10" name="Shape 8"/>
          <p:cNvSpPr/>
          <p:nvPr/>
        </p:nvSpPr>
        <p:spPr>
          <a:xfrm>
            <a:off x="8001000" y="1854101"/>
            <a:ext cx="3378200" cy="2039541"/>
          </a:xfrm>
          <a:prstGeom prst="roundRect">
            <a:avLst>
              <a:gd name="adj" fmla="val 4982"/>
            </a:avLst>
          </a:prstGeom>
          <a:solidFill>
            <a:srgbClr val="0F1B2D"/>
          </a:solidFill>
          <a:ln/>
        </p:spPr>
      </p:sp>
      <p:sp>
        <p:nvSpPr>
          <p:cNvPr id="11" name="Text 9"/>
          <p:cNvSpPr/>
          <p:nvPr/>
        </p:nvSpPr>
        <p:spPr>
          <a:xfrm>
            <a:off x="8255000" y="2108101"/>
            <a:ext cx="295630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9A23B"/>
                </a:solidFill>
                <a:latin typeface="IBM Plex Sans" pitchFamily="34" charset="0"/>
                <a:ea typeface="IBM Plex Sans" pitchFamily="34" charset="-122"/>
                <a:cs typeface="IBM Plex Sans" pitchFamily="34" charset="-120"/>
              </a:rPr>
              <a:t>Bidirectional</a:t>
            </a:r>
            <a:endParaRPr lang="en-US" sz="2000" dirty="0"/>
          </a:p>
        </p:txBody>
      </p:sp>
      <p:sp>
        <p:nvSpPr>
          <p:cNvPr id="12" name="Text 10"/>
          <p:cNvSpPr/>
          <p:nvPr/>
        </p:nvSpPr>
        <p:spPr>
          <a:xfrm>
            <a:off x="8255000" y="2489101"/>
            <a:ext cx="2956306"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IBM Plex Sans" pitchFamily="34" charset="0"/>
                <a:ea typeface="IBM Plex Sans" pitchFamily="34" charset="-122"/>
                <a:cs typeface="IBM Plex Sans" pitchFamily="34" charset="-120"/>
              </a:rPr>
              <a:t>Reads the review forward and backward and joins both views, so every word sees its left and right context.</a:t>
            </a:r>
            <a:endParaRPr lang="en-US" sz="1600" dirty="0"/>
          </a:p>
        </p:txBody>
      </p:sp>
      <p:sp>
        <p:nvSpPr>
          <p:cNvPr id="13"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IMDB sentiment analysis with RNN and LSTM</a:t>
            </a:r>
            <a:endParaRPr lang="en-US" sz="1200" dirty="0"/>
          </a:p>
        </p:txBody>
      </p:sp>
      <p:sp>
        <p:nvSpPr>
          <p:cNvPr id="14" name="Text 12"/>
          <p:cNvSpPr/>
          <p:nvPr/>
        </p:nvSpPr>
        <p:spPr>
          <a:xfrm>
            <a:off x="10515600" y="6238280"/>
            <a:ext cx="863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6C9"/>
                </a:solidFill>
                <a:latin typeface="IBM Plex Sans" pitchFamily="34" charset="0"/>
                <a:ea typeface="IBM Plex Sans" pitchFamily="34" charset="-122"/>
                <a:cs typeface="IBM Plex Sans" pitchFamily="34" charset="-120"/>
              </a:rPr>
              <a:t>METHOD</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Model architecture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801"/>
          <a:ext cx="10553700" cy="3359150"/>
        </p:xfrm>
        <a:graphic>
          <a:graphicData uri="http://schemas.openxmlformats.org/drawingml/2006/table">
            <a:tbl>
              <a:tblPr/>
              <a:tblGrid>
                <a:gridCol w="2743962"/>
                <a:gridCol w="3904869"/>
                <a:gridCol w="3904869"/>
              </a:tblGrid>
              <a:tr h="439241">
                <a:tc>
                  <a:txBody>
                    <a:bodyPr/>
                    <a:lstStyle/>
                    <a:p>
                      <a:pPr indent="0" marL="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Layer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indent="0" marL="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Baseline: SimpleRNN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indent="0" marL="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Main: Bidirectional LSTM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r>
              <a:tr h="439241">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Embedding</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10,000 words × 128 dimensions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10,000 words × 128 dimensions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723702">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Recurrent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SimpleRNN, 64 units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Bidirectional LSTM, 64 units per direction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r>
              <a:tr h="439241">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Dropout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0.5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0.5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439241">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Dense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32 units, ReLU</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32 units, ReLU</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r>
              <a:tr h="439241">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Output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1 unit, sigmoid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1 unit, sigmoid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439241">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Parameters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about 1.29 million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about 1.38 million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IMDB sentiment analysis with RNN and LSTM</a:t>
            </a:r>
            <a:endParaRPr lang="en-US" sz="1200" dirty="0"/>
          </a:p>
        </p:txBody>
      </p:sp>
      <p:sp>
        <p:nvSpPr>
          <p:cNvPr id="6" name="Text 3"/>
          <p:cNvSpPr/>
          <p:nvPr/>
        </p:nvSpPr>
        <p:spPr>
          <a:xfrm>
            <a:off x="10515600" y="6238280"/>
            <a:ext cx="863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6C9"/>
                </a:solidFill>
                <a:latin typeface="IBM Plex Sans" pitchFamily="34" charset="0"/>
                <a:ea typeface="IBM Plex Sans" pitchFamily="34" charset="-122"/>
                <a:cs typeface="IBM Plex Sans" pitchFamily="34" charset="-120"/>
              </a:rPr>
              <a:t>METHOD</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Training setup</a:t>
            </a:r>
            <a:endParaRPr lang="en-US" sz="3200" dirty="0"/>
          </a:p>
        </p:txBody>
      </p:sp>
      <p:sp>
        <p:nvSpPr>
          <p:cNvPr id="4" name="Shape 2"/>
          <p:cNvSpPr/>
          <p:nvPr/>
        </p:nvSpPr>
        <p:spPr>
          <a:xfrm>
            <a:off x="815975" y="1857276"/>
            <a:ext cx="3380284" cy="1032470"/>
          </a:xfrm>
          <a:prstGeom prst="roundRect">
            <a:avLst>
              <a:gd name="adj" fmla="val 9533"/>
            </a:avLst>
          </a:prstGeom>
          <a:solidFill>
            <a:srgbClr val="FFFDF8"/>
          </a:solidFill>
          <a:ln w="6350">
            <a:solidFill>
              <a:srgbClr val="D6D2C4"/>
            </a:solidFill>
            <a:prstDash val="solid"/>
          </a:ln>
        </p:spPr>
      </p:sp>
      <p:sp>
        <p:nvSpPr>
          <p:cNvPr id="5" name="Text 3"/>
          <p:cNvSpPr/>
          <p:nvPr/>
        </p:nvSpPr>
        <p:spPr>
          <a:xfrm>
            <a:off x="1047750" y="2089051"/>
            <a:ext cx="30042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6"/>
                </a:solidFill>
                <a:latin typeface="IBM Plex Sans" pitchFamily="34" charset="0"/>
                <a:ea typeface="IBM Plex Sans" pitchFamily="34" charset="-122"/>
                <a:cs typeface="IBM Plex Sans" pitchFamily="34" charset="-120"/>
              </a:rPr>
              <a:t>OPTIMIZER</a:t>
            </a:r>
            <a:endParaRPr lang="en-US" sz="1200" dirty="0"/>
          </a:p>
        </p:txBody>
      </p:sp>
      <p:sp>
        <p:nvSpPr>
          <p:cNvPr id="6" name="Text 4"/>
          <p:cNvSpPr/>
          <p:nvPr/>
        </p:nvSpPr>
        <p:spPr>
          <a:xfrm>
            <a:off x="1047750" y="2353171"/>
            <a:ext cx="30042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Adam</a:t>
            </a:r>
            <a:endParaRPr lang="en-US" sz="2000" dirty="0"/>
          </a:p>
        </p:txBody>
      </p:sp>
      <p:sp>
        <p:nvSpPr>
          <p:cNvPr id="7" name="Shape 5"/>
          <p:cNvSpPr/>
          <p:nvPr/>
        </p:nvSpPr>
        <p:spPr>
          <a:xfrm>
            <a:off x="4405809" y="1857276"/>
            <a:ext cx="3380284" cy="1032470"/>
          </a:xfrm>
          <a:prstGeom prst="roundRect">
            <a:avLst>
              <a:gd name="adj" fmla="val 9533"/>
            </a:avLst>
          </a:prstGeom>
          <a:solidFill>
            <a:srgbClr val="FFFDF8"/>
          </a:solidFill>
          <a:ln w="6350">
            <a:solidFill>
              <a:srgbClr val="D6D2C4"/>
            </a:solidFill>
            <a:prstDash val="solid"/>
          </a:ln>
        </p:spPr>
      </p:sp>
      <p:sp>
        <p:nvSpPr>
          <p:cNvPr id="8" name="Text 6"/>
          <p:cNvSpPr/>
          <p:nvPr/>
        </p:nvSpPr>
        <p:spPr>
          <a:xfrm>
            <a:off x="4637584" y="2089051"/>
            <a:ext cx="30042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6"/>
                </a:solidFill>
                <a:latin typeface="IBM Plex Sans" pitchFamily="34" charset="0"/>
                <a:ea typeface="IBM Plex Sans" pitchFamily="34" charset="-122"/>
                <a:cs typeface="IBM Plex Sans" pitchFamily="34" charset="-120"/>
              </a:rPr>
              <a:t>LOSS</a:t>
            </a:r>
            <a:endParaRPr lang="en-US" sz="1200" dirty="0"/>
          </a:p>
        </p:txBody>
      </p:sp>
      <p:sp>
        <p:nvSpPr>
          <p:cNvPr id="9" name="Text 7"/>
          <p:cNvSpPr/>
          <p:nvPr/>
        </p:nvSpPr>
        <p:spPr>
          <a:xfrm>
            <a:off x="4637584" y="2353171"/>
            <a:ext cx="30042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Binary cross-entropy</a:t>
            </a:r>
            <a:endParaRPr lang="en-US" sz="2000" dirty="0"/>
          </a:p>
        </p:txBody>
      </p:sp>
      <p:sp>
        <p:nvSpPr>
          <p:cNvPr id="10" name="Shape 8"/>
          <p:cNvSpPr/>
          <p:nvPr/>
        </p:nvSpPr>
        <p:spPr>
          <a:xfrm>
            <a:off x="7995642" y="1857276"/>
            <a:ext cx="3380284" cy="1032470"/>
          </a:xfrm>
          <a:prstGeom prst="roundRect">
            <a:avLst>
              <a:gd name="adj" fmla="val 9533"/>
            </a:avLst>
          </a:prstGeom>
          <a:solidFill>
            <a:srgbClr val="FFFDF8"/>
          </a:solidFill>
          <a:ln w="6350">
            <a:solidFill>
              <a:srgbClr val="D6D2C4"/>
            </a:solidFill>
            <a:prstDash val="solid"/>
          </a:ln>
        </p:spPr>
      </p:sp>
      <p:sp>
        <p:nvSpPr>
          <p:cNvPr id="11" name="Text 9"/>
          <p:cNvSpPr/>
          <p:nvPr/>
        </p:nvSpPr>
        <p:spPr>
          <a:xfrm>
            <a:off x="8227417" y="2089051"/>
            <a:ext cx="30042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6"/>
                </a:solidFill>
                <a:latin typeface="IBM Plex Sans" pitchFamily="34" charset="0"/>
                <a:ea typeface="IBM Plex Sans" pitchFamily="34" charset="-122"/>
                <a:cs typeface="IBM Plex Sans" pitchFamily="34" charset="-120"/>
              </a:rPr>
              <a:t>BATCH SIZE</a:t>
            </a:r>
            <a:endParaRPr lang="en-US" sz="1200" dirty="0"/>
          </a:p>
        </p:txBody>
      </p:sp>
      <p:sp>
        <p:nvSpPr>
          <p:cNvPr id="12" name="Text 10"/>
          <p:cNvSpPr/>
          <p:nvPr/>
        </p:nvSpPr>
        <p:spPr>
          <a:xfrm>
            <a:off x="8227417" y="2353171"/>
            <a:ext cx="30042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64</a:t>
            </a:r>
            <a:endParaRPr lang="en-US" sz="2000" dirty="0"/>
          </a:p>
        </p:txBody>
      </p:sp>
      <p:sp>
        <p:nvSpPr>
          <p:cNvPr id="13" name="Shape 11"/>
          <p:cNvSpPr/>
          <p:nvPr/>
        </p:nvSpPr>
        <p:spPr>
          <a:xfrm>
            <a:off x="815975" y="3099296"/>
            <a:ext cx="3380284" cy="1337270"/>
          </a:xfrm>
          <a:prstGeom prst="roundRect">
            <a:avLst>
              <a:gd name="adj" fmla="val 7360"/>
            </a:avLst>
          </a:prstGeom>
          <a:solidFill>
            <a:srgbClr val="FFFDF8"/>
          </a:solidFill>
          <a:ln w="6350">
            <a:solidFill>
              <a:srgbClr val="D6D2C4"/>
            </a:solidFill>
            <a:prstDash val="solid"/>
          </a:ln>
        </p:spPr>
      </p:sp>
      <p:sp>
        <p:nvSpPr>
          <p:cNvPr id="14" name="Text 12"/>
          <p:cNvSpPr/>
          <p:nvPr/>
        </p:nvSpPr>
        <p:spPr>
          <a:xfrm>
            <a:off x="1047750" y="3331071"/>
            <a:ext cx="30042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6"/>
                </a:solidFill>
                <a:latin typeface="IBM Plex Sans" pitchFamily="34" charset="0"/>
                <a:ea typeface="IBM Plex Sans" pitchFamily="34" charset="-122"/>
                <a:cs typeface="IBM Plex Sans" pitchFamily="34" charset="-120"/>
              </a:rPr>
              <a:t>EPOCHS</a:t>
            </a:r>
            <a:endParaRPr lang="en-US" sz="1200" dirty="0"/>
          </a:p>
        </p:txBody>
      </p:sp>
      <p:sp>
        <p:nvSpPr>
          <p:cNvPr id="15" name="Text 13"/>
          <p:cNvSpPr/>
          <p:nvPr/>
        </p:nvSpPr>
        <p:spPr>
          <a:xfrm>
            <a:off x="1047750" y="3595191"/>
            <a:ext cx="30042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Up to 5</a:t>
            </a:r>
            <a:endParaRPr lang="en-US" sz="2000" dirty="0"/>
          </a:p>
        </p:txBody>
      </p:sp>
      <p:sp>
        <p:nvSpPr>
          <p:cNvPr id="16" name="Shape 14"/>
          <p:cNvSpPr/>
          <p:nvPr/>
        </p:nvSpPr>
        <p:spPr>
          <a:xfrm>
            <a:off x="4405809" y="3099296"/>
            <a:ext cx="3380284" cy="1337270"/>
          </a:xfrm>
          <a:prstGeom prst="roundRect">
            <a:avLst>
              <a:gd name="adj" fmla="val 7360"/>
            </a:avLst>
          </a:prstGeom>
          <a:solidFill>
            <a:srgbClr val="FFFDF8"/>
          </a:solidFill>
          <a:ln w="6350">
            <a:solidFill>
              <a:srgbClr val="D6D2C4"/>
            </a:solidFill>
            <a:prstDash val="solid"/>
          </a:ln>
        </p:spPr>
      </p:sp>
      <p:sp>
        <p:nvSpPr>
          <p:cNvPr id="17" name="Text 15"/>
          <p:cNvSpPr/>
          <p:nvPr/>
        </p:nvSpPr>
        <p:spPr>
          <a:xfrm>
            <a:off x="4637584" y="3331071"/>
            <a:ext cx="30042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6"/>
                </a:solidFill>
                <a:latin typeface="IBM Plex Sans" pitchFamily="34" charset="0"/>
                <a:ea typeface="IBM Plex Sans" pitchFamily="34" charset="-122"/>
                <a:cs typeface="IBM Plex Sans" pitchFamily="34" charset="-120"/>
              </a:rPr>
              <a:t>VALIDATION</a:t>
            </a:r>
            <a:endParaRPr lang="en-US" sz="1200" dirty="0"/>
          </a:p>
        </p:txBody>
      </p:sp>
      <p:sp>
        <p:nvSpPr>
          <p:cNvPr id="18" name="Text 16"/>
          <p:cNvSpPr/>
          <p:nvPr/>
        </p:nvSpPr>
        <p:spPr>
          <a:xfrm>
            <a:off x="4637584" y="3595191"/>
            <a:ext cx="30042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20% of the training set</a:t>
            </a:r>
            <a:endParaRPr lang="en-US" sz="2000" dirty="0"/>
          </a:p>
        </p:txBody>
      </p:sp>
      <p:sp>
        <p:nvSpPr>
          <p:cNvPr id="19" name="Shape 17"/>
          <p:cNvSpPr/>
          <p:nvPr/>
        </p:nvSpPr>
        <p:spPr>
          <a:xfrm>
            <a:off x="7995642" y="3099296"/>
            <a:ext cx="3380284" cy="1337270"/>
          </a:xfrm>
          <a:prstGeom prst="roundRect">
            <a:avLst>
              <a:gd name="adj" fmla="val 7360"/>
            </a:avLst>
          </a:prstGeom>
          <a:solidFill>
            <a:srgbClr val="FFFDF8"/>
          </a:solidFill>
          <a:ln w="6350">
            <a:solidFill>
              <a:srgbClr val="D6D2C4"/>
            </a:solidFill>
            <a:prstDash val="solid"/>
          </a:ln>
        </p:spPr>
      </p:sp>
      <p:sp>
        <p:nvSpPr>
          <p:cNvPr id="20" name="Text 18"/>
          <p:cNvSpPr/>
          <p:nvPr/>
        </p:nvSpPr>
        <p:spPr>
          <a:xfrm>
            <a:off x="8227417" y="3331071"/>
            <a:ext cx="30042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6"/>
                </a:solidFill>
                <a:latin typeface="IBM Plex Sans" pitchFamily="34" charset="0"/>
                <a:ea typeface="IBM Plex Sans" pitchFamily="34" charset="-122"/>
                <a:cs typeface="IBM Plex Sans" pitchFamily="34" charset="-120"/>
              </a:rPr>
              <a:t>EARLY STOPPING</a:t>
            </a:r>
            <a:endParaRPr lang="en-US" sz="1200" dirty="0"/>
          </a:p>
        </p:txBody>
      </p:sp>
      <p:sp>
        <p:nvSpPr>
          <p:cNvPr id="21" name="Text 19"/>
          <p:cNvSpPr/>
          <p:nvPr/>
        </p:nvSpPr>
        <p:spPr>
          <a:xfrm>
            <a:off x="8227417" y="3595191"/>
            <a:ext cx="3004236"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Patience 2 on val_loss, best weights restored</a:t>
            </a:r>
            <a:endParaRPr lang="en-US" sz="2000" dirty="0"/>
          </a:p>
        </p:txBody>
      </p:sp>
      <p:sp>
        <p:nvSpPr>
          <p:cNvPr id="22" name="Text 20"/>
          <p:cNvSpPr/>
          <p:nvPr/>
        </p:nvSpPr>
        <p:spPr>
          <a:xfrm>
            <a:off x="812800" y="47445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Also fixed: embedding size 128, vocabulary 10,000, sequence length 200 and NumPy seed 42.</a:t>
            </a:r>
            <a:endParaRPr lang="en-US" sz="12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IMDB sentiment analysis with RNN and LSTM</a:t>
            </a:r>
            <a:endParaRPr lang="en-US" sz="1200" dirty="0"/>
          </a:p>
        </p:txBody>
      </p:sp>
      <p:sp>
        <p:nvSpPr>
          <p:cNvPr id="24" name="Text 22"/>
          <p:cNvSpPr/>
          <p:nvPr/>
        </p:nvSpPr>
        <p:spPr>
          <a:xfrm>
            <a:off x="10515600" y="6238280"/>
            <a:ext cx="863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6C9"/>
                </a:solidFill>
                <a:latin typeface="IBM Plex Sans" pitchFamily="34" charset="0"/>
                <a:ea typeface="IBM Plex Sans" pitchFamily="34" charset="-122"/>
                <a:cs typeface="IBM Plex Sans" pitchFamily="34" charset="-120"/>
              </a:rPr>
              <a:t>RESULTS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Sample predictions from the LSTM</a:t>
            </a:r>
            <a:endParaRPr lang="en-US" sz="3200" dirty="0"/>
          </a:p>
        </p:txBody>
      </p:sp>
      <p:pic>
        <p:nvPicPr>
          <p:cNvPr id="4" name="Image 0" descr="Notebook output listing three sample reviews with the LSTM’s predicted label and P(positive): 0.82, 0.01 and 0.34">    </p:cNvPr>
          <p:cNvPicPr>
            <a:picLocks noChangeAspect="1"/>
          </p:cNvPicPr>
          <p:nvPr/>
        </p:nvPicPr>
        <p:blipFill>
          <a:blip r:embed="rId1"/>
          <a:srcRect l="0" r="0" t="-109" b="-109"/>
          <a:stretch/>
        </p:blipFill>
        <p:spPr>
          <a:xfrm>
            <a:off x="812800" y="1854101"/>
            <a:ext cx="10566400" cy="1155700"/>
          </a:xfrm>
          <a:prstGeom prst="roundRect">
            <a:avLst>
              <a:gd name="adj" fmla="val 6593"/>
            </a:avLst>
          </a:prstGeom>
        </p:spPr>
      </p:pic>
      <p:sp>
        <p:nvSpPr>
          <p:cNvPr id="5" name="Shape 2"/>
          <p:cNvSpPr/>
          <p:nvPr/>
        </p:nvSpPr>
        <p:spPr>
          <a:xfrm>
            <a:off x="815975" y="3317776"/>
            <a:ext cx="3380284" cy="1459111"/>
          </a:xfrm>
          <a:prstGeom prst="roundRect">
            <a:avLst>
              <a:gd name="adj" fmla="val 6746"/>
            </a:avLst>
          </a:prstGeom>
          <a:solidFill>
            <a:srgbClr val="FFFDF8"/>
          </a:solidFill>
          <a:ln w="6350">
            <a:solidFill>
              <a:srgbClr val="D6D2C4"/>
            </a:solidFill>
            <a:prstDash val="solid"/>
          </a:ln>
        </p:spPr>
      </p:sp>
      <p:sp>
        <p:nvSpPr>
          <p:cNvPr id="6" name="Text 3"/>
          <p:cNvSpPr/>
          <p:nvPr/>
        </p:nvSpPr>
        <p:spPr>
          <a:xfrm>
            <a:off x="1073150" y="3524151"/>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6"/>
                </a:solidFill>
                <a:latin typeface="IBM Plex Sans" pitchFamily="34" charset="0"/>
                <a:ea typeface="IBM Plex Sans" pitchFamily="34" charset="-122"/>
                <a:cs typeface="IBM Plex Sans" pitchFamily="34" charset="-120"/>
              </a:rPr>
              <a:t>CLEARLY POSITIVE REVIEW</a:t>
            </a:r>
            <a:endParaRPr lang="en-US" sz="1200" dirty="0"/>
          </a:p>
        </p:txBody>
      </p:sp>
      <p:sp>
        <p:nvSpPr>
          <p:cNvPr id="7" name="Text 4"/>
          <p:cNvSpPr/>
          <p:nvPr/>
        </p:nvSpPr>
        <p:spPr>
          <a:xfrm>
            <a:off x="1073150" y="3788271"/>
            <a:ext cx="295191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456C9"/>
                </a:solidFill>
                <a:latin typeface="IBM Plex Sans" pitchFamily="34" charset="0"/>
                <a:ea typeface="IBM Plex Sans" pitchFamily="34" charset="-122"/>
                <a:cs typeface="IBM Plex Sans" pitchFamily="34" charset="-120"/>
              </a:rPr>
              <a:t>0.82</a:t>
            </a:r>
            <a:endParaRPr lang="en-US" sz="3200" dirty="0"/>
          </a:p>
        </p:txBody>
      </p:sp>
      <p:sp>
        <p:nvSpPr>
          <p:cNvPr id="8" name="Text 5"/>
          <p:cNvSpPr/>
          <p:nvPr/>
        </p:nvSpPr>
        <p:spPr>
          <a:xfrm>
            <a:off x="1073150" y="4286052"/>
            <a:ext cx="295191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P(positive), labelled Positive</a:t>
            </a:r>
            <a:endParaRPr lang="en-US" sz="1600" dirty="0"/>
          </a:p>
        </p:txBody>
      </p:sp>
      <p:sp>
        <p:nvSpPr>
          <p:cNvPr id="9" name="Shape 6"/>
          <p:cNvSpPr/>
          <p:nvPr/>
        </p:nvSpPr>
        <p:spPr>
          <a:xfrm>
            <a:off x="4405809" y="3317776"/>
            <a:ext cx="3380383" cy="1459111"/>
          </a:xfrm>
          <a:prstGeom prst="roundRect">
            <a:avLst>
              <a:gd name="adj" fmla="val 6746"/>
            </a:avLst>
          </a:prstGeom>
          <a:solidFill>
            <a:srgbClr val="FFFDF8"/>
          </a:solidFill>
          <a:ln w="6350">
            <a:solidFill>
              <a:srgbClr val="D6D2C4"/>
            </a:solidFill>
            <a:prstDash val="solid"/>
          </a:ln>
        </p:spPr>
      </p:sp>
      <p:sp>
        <p:nvSpPr>
          <p:cNvPr id="10" name="Text 7"/>
          <p:cNvSpPr/>
          <p:nvPr/>
        </p:nvSpPr>
        <p:spPr>
          <a:xfrm>
            <a:off x="4662984" y="3524151"/>
            <a:ext cx="295201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6"/>
                </a:solidFill>
                <a:latin typeface="IBM Plex Sans" pitchFamily="34" charset="0"/>
                <a:ea typeface="IBM Plex Sans" pitchFamily="34" charset="-122"/>
                <a:cs typeface="IBM Plex Sans" pitchFamily="34" charset="-120"/>
              </a:rPr>
              <a:t>CLEARLY NEGATIVE REVIEW</a:t>
            </a:r>
            <a:endParaRPr lang="en-US" sz="1200" dirty="0"/>
          </a:p>
        </p:txBody>
      </p:sp>
      <p:sp>
        <p:nvSpPr>
          <p:cNvPr id="11" name="Text 8"/>
          <p:cNvSpPr/>
          <p:nvPr/>
        </p:nvSpPr>
        <p:spPr>
          <a:xfrm>
            <a:off x="4662984" y="3788271"/>
            <a:ext cx="2952014"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456C9"/>
                </a:solidFill>
                <a:latin typeface="IBM Plex Sans" pitchFamily="34" charset="0"/>
                <a:ea typeface="IBM Plex Sans" pitchFamily="34" charset="-122"/>
                <a:cs typeface="IBM Plex Sans" pitchFamily="34" charset="-120"/>
              </a:rPr>
              <a:t>0.01</a:t>
            </a:r>
            <a:endParaRPr lang="en-US" sz="3200" dirty="0"/>
          </a:p>
        </p:txBody>
      </p:sp>
      <p:sp>
        <p:nvSpPr>
          <p:cNvPr id="12" name="Text 9"/>
          <p:cNvSpPr/>
          <p:nvPr/>
        </p:nvSpPr>
        <p:spPr>
          <a:xfrm>
            <a:off x="4662984" y="4286052"/>
            <a:ext cx="295201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P(positive), labelled Negative</a:t>
            </a:r>
            <a:endParaRPr lang="en-US" sz="1600" dirty="0"/>
          </a:p>
        </p:txBody>
      </p:sp>
      <p:sp>
        <p:nvSpPr>
          <p:cNvPr id="13" name="Shape 10"/>
          <p:cNvSpPr/>
          <p:nvPr/>
        </p:nvSpPr>
        <p:spPr>
          <a:xfrm>
            <a:off x="7995741" y="3317776"/>
            <a:ext cx="3380284" cy="1459111"/>
          </a:xfrm>
          <a:prstGeom prst="roundRect">
            <a:avLst>
              <a:gd name="adj" fmla="val 6746"/>
            </a:avLst>
          </a:prstGeom>
          <a:solidFill>
            <a:srgbClr val="FFFDF8"/>
          </a:solidFill>
          <a:ln w="6350">
            <a:solidFill>
              <a:srgbClr val="D6D2C4"/>
            </a:solidFill>
            <a:prstDash val="solid"/>
          </a:ln>
        </p:spPr>
      </p:sp>
      <p:sp>
        <p:nvSpPr>
          <p:cNvPr id="14" name="Text 11"/>
          <p:cNvSpPr/>
          <p:nvPr/>
        </p:nvSpPr>
        <p:spPr>
          <a:xfrm>
            <a:off x="8252916" y="3524151"/>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6"/>
                </a:solidFill>
                <a:latin typeface="IBM Plex Sans" pitchFamily="34" charset="0"/>
                <a:ea typeface="IBM Plex Sans" pitchFamily="34" charset="-122"/>
                <a:cs typeface="IBM Plex Sans" pitchFamily="34" charset="-120"/>
              </a:rPr>
              <a:t>MIXED REVIEW</a:t>
            </a:r>
            <a:endParaRPr lang="en-US" sz="1200" dirty="0"/>
          </a:p>
        </p:txBody>
      </p:sp>
      <p:sp>
        <p:nvSpPr>
          <p:cNvPr id="15" name="Text 12"/>
          <p:cNvSpPr/>
          <p:nvPr/>
        </p:nvSpPr>
        <p:spPr>
          <a:xfrm>
            <a:off x="8252916" y="3788271"/>
            <a:ext cx="295191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456C9"/>
                </a:solidFill>
                <a:latin typeface="IBM Plex Sans" pitchFamily="34" charset="0"/>
                <a:ea typeface="IBM Plex Sans" pitchFamily="34" charset="-122"/>
                <a:cs typeface="IBM Plex Sans" pitchFamily="34" charset="-120"/>
              </a:rPr>
              <a:t>0.34</a:t>
            </a:r>
            <a:endParaRPr lang="en-US" sz="3200" dirty="0"/>
          </a:p>
        </p:txBody>
      </p:sp>
      <p:sp>
        <p:nvSpPr>
          <p:cNvPr id="16" name="Text 13"/>
          <p:cNvSpPr/>
          <p:nvPr/>
        </p:nvSpPr>
        <p:spPr>
          <a:xfrm>
            <a:off x="8252916" y="4286052"/>
            <a:ext cx="295191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P(positive), labelled Negative</a:t>
            </a:r>
            <a:endParaRPr lang="en-US" sz="1600" dirty="0"/>
          </a:p>
        </p:txBody>
      </p:sp>
      <p:sp>
        <p:nvSpPr>
          <p:cNvPr id="17"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IMDB sentiment analysis with RNN and LSTM</a:t>
            </a:r>
            <a:endParaRPr lang="en-US" sz="1200" dirty="0"/>
          </a:p>
        </p:txBody>
      </p:sp>
      <p:sp>
        <p:nvSpPr>
          <p:cNvPr id="18" name="Text 15"/>
          <p:cNvSpPr/>
          <p:nvPr/>
        </p:nvSpPr>
        <p:spPr>
          <a:xfrm>
            <a:off x="10515600" y="6238280"/>
            <a:ext cx="863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6C9"/>
                </a:solidFill>
                <a:latin typeface="IBM Plex Sans" pitchFamily="34" charset="0"/>
                <a:ea typeface="IBM Plex Sans" pitchFamily="34" charset="-122"/>
                <a:cs typeface="IBM Plex Sans" pitchFamily="34" charset="-120"/>
              </a:rPr>
              <a:t>WRAP-UP</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Conclusion and future work</a:t>
            </a:r>
            <a:endParaRPr lang="en-US" sz="3200" dirty="0"/>
          </a:p>
        </p:txBody>
      </p:sp>
      <p:sp>
        <p:nvSpPr>
          <p:cNvPr id="4" name="Shape 2"/>
          <p:cNvSpPr/>
          <p:nvPr/>
        </p:nvSpPr>
        <p:spPr>
          <a:xfrm>
            <a:off x="815975" y="1857276"/>
            <a:ext cx="5181600" cy="3559671"/>
          </a:xfrm>
          <a:prstGeom prst="roundRect">
            <a:avLst>
              <a:gd name="adj" fmla="val 2765"/>
            </a:avLst>
          </a:prstGeom>
          <a:solidFill>
            <a:srgbClr val="FFFDF8"/>
          </a:solidFill>
          <a:ln w="6350">
            <a:solidFill>
              <a:srgbClr val="D6D2C4"/>
            </a:solidFill>
            <a:prstDash val="solid"/>
          </a:ln>
        </p:spPr>
      </p:sp>
      <p:sp>
        <p:nvSpPr>
          <p:cNvPr id="5" name="Text 3"/>
          <p:cNvSpPr/>
          <p:nvPr/>
        </p:nvSpPr>
        <p:spPr>
          <a:xfrm>
            <a:off x="1073150" y="2114451"/>
            <a:ext cx="48072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Conclusion</a:t>
            </a:r>
            <a:endParaRPr lang="en-US" sz="2000" dirty="0"/>
          </a:p>
        </p:txBody>
      </p:sp>
      <p:sp>
        <p:nvSpPr>
          <p:cNvPr id="6" name="Shape 4"/>
          <p:cNvSpPr/>
          <p:nvPr/>
        </p:nvSpPr>
        <p:spPr>
          <a:xfrm>
            <a:off x="1073150" y="2527201"/>
            <a:ext cx="4667250" cy="0"/>
          </a:xfrm>
          <a:prstGeom prst="line">
            <a:avLst/>
          </a:prstGeom>
          <a:noFill/>
          <a:ln w="12700">
            <a:solidFill>
              <a:srgbClr val="D6D2C4"/>
            </a:solidFill>
            <a:prstDash val="solid"/>
          </a:ln>
        </p:spPr>
      </p:sp>
      <p:sp>
        <p:nvSpPr>
          <p:cNvPr id="7" name="Text 5"/>
          <p:cNvSpPr/>
          <p:nvPr/>
        </p:nvSpPr>
        <p:spPr>
          <a:xfrm>
            <a:off x="1073150" y="2635151"/>
            <a:ext cx="480726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A complete pipeline turns raw review text into a sentiment probability.</a:t>
            </a:r>
            <a:endParaRPr lang="en-US" sz="1600" dirty="0"/>
          </a:p>
        </p:txBody>
      </p:sp>
      <p:sp>
        <p:nvSpPr>
          <p:cNvPr id="8" name="Shape 6"/>
          <p:cNvSpPr/>
          <p:nvPr/>
        </p:nvSpPr>
        <p:spPr>
          <a:xfrm>
            <a:off x="1073150" y="3312021"/>
            <a:ext cx="4667250" cy="0"/>
          </a:xfrm>
          <a:prstGeom prst="line">
            <a:avLst/>
          </a:prstGeom>
          <a:noFill/>
          <a:ln w="12700">
            <a:solidFill>
              <a:srgbClr val="D6D2C4"/>
            </a:solidFill>
            <a:prstDash val="solid"/>
          </a:ln>
        </p:spPr>
      </p:sp>
      <p:sp>
        <p:nvSpPr>
          <p:cNvPr id="9" name="Text 7"/>
          <p:cNvSpPr/>
          <p:nvPr/>
        </p:nvSpPr>
        <p:spPr>
          <a:xfrm>
            <a:off x="1073150" y="3419971"/>
            <a:ext cx="480726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A SimpleRNN baseline and a Bidirectional LSTM are trained and evaluated under identical settings.</a:t>
            </a:r>
            <a:endParaRPr lang="en-US" sz="1600" dirty="0"/>
          </a:p>
        </p:txBody>
      </p:sp>
      <p:sp>
        <p:nvSpPr>
          <p:cNvPr id="10" name="Shape 8"/>
          <p:cNvSpPr/>
          <p:nvPr/>
        </p:nvSpPr>
        <p:spPr>
          <a:xfrm>
            <a:off x="1073150" y="4096841"/>
            <a:ext cx="4667250" cy="0"/>
          </a:xfrm>
          <a:prstGeom prst="line">
            <a:avLst/>
          </a:prstGeom>
          <a:noFill/>
          <a:ln w="12700">
            <a:solidFill>
              <a:srgbClr val="D6D2C4"/>
            </a:solidFill>
            <a:prstDash val="solid"/>
          </a:ln>
        </p:spPr>
      </p:sp>
      <p:sp>
        <p:nvSpPr>
          <p:cNvPr id="11" name="Text 9"/>
          <p:cNvSpPr/>
          <p:nvPr/>
        </p:nvSpPr>
        <p:spPr>
          <a:xfrm>
            <a:off x="1073150" y="4204791"/>
            <a:ext cx="480726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8"/>
                </a:solidFill>
                <a:latin typeface="IBM Plex Sans" pitchFamily="34" charset="0"/>
                <a:ea typeface="IBM Plex Sans" pitchFamily="34" charset="-122"/>
                <a:cs typeface="IBM Plex Sans" pitchFamily="34" charset="-120"/>
              </a:rPr>
              <a:t>On three sample reviews, the LSTM labelled the clear cases correctly and scored the mixed one at 0.34.</a:t>
            </a:r>
            <a:endParaRPr lang="en-US" sz="1600" dirty="0"/>
          </a:p>
        </p:txBody>
      </p:sp>
      <p:sp>
        <p:nvSpPr>
          <p:cNvPr id="12" name="Shape 10"/>
          <p:cNvSpPr/>
          <p:nvPr/>
        </p:nvSpPr>
        <p:spPr>
          <a:xfrm>
            <a:off x="6203950" y="1854101"/>
            <a:ext cx="5175250" cy="3566021"/>
          </a:xfrm>
          <a:prstGeom prst="roundRect">
            <a:avLst>
              <a:gd name="adj" fmla="val 2849"/>
            </a:avLst>
          </a:prstGeom>
          <a:solidFill>
            <a:srgbClr val="0F1B2D"/>
          </a:solidFill>
          <a:ln/>
        </p:spPr>
      </p:sp>
      <p:sp>
        <p:nvSpPr>
          <p:cNvPr id="13" name="Text 11"/>
          <p:cNvSpPr/>
          <p:nvPr/>
        </p:nvSpPr>
        <p:spPr>
          <a:xfrm>
            <a:off x="6457950" y="2108101"/>
            <a:ext cx="48072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9A23B"/>
                </a:solidFill>
                <a:latin typeface="IBM Plex Sans" pitchFamily="34" charset="0"/>
                <a:ea typeface="IBM Plex Sans" pitchFamily="34" charset="-122"/>
                <a:cs typeface="IBM Plex Sans" pitchFamily="34" charset="-120"/>
              </a:rPr>
              <a:t>Future work</a:t>
            </a:r>
            <a:endParaRPr lang="en-US" sz="2000" dirty="0"/>
          </a:p>
        </p:txBody>
      </p:sp>
      <p:sp>
        <p:nvSpPr>
          <p:cNvPr id="14" name="Shape 12"/>
          <p:cNvSpPr/>
          <p:nvPr/>
        </p:nvSpPr>
        <p:spPr>
          <a:xfrm>
            <a:off x="6457950" y="2520851"/>
            <a:ext cx="4667250" cy="0"/>
          </a:xfrm>
          <a:prstGeom prst="line">
            <a:avLst/>
          </a:prstGeom>
          <a:noFill/>
          <a:ln w="12700">
            <a:solidFill>
              <a:srgbClr val="2A3B57"/>
            </a:solidFill>
            <a:prstDash val="solid"/>
          </a:ln>
        </p:spPr>
      </p:sp>
      <p:sp>
        <p:nvSpPr>
          <p:cNvPr id="15" name="Text 13"/>
          <p:cNvSpPr/>
          <p:nvPr/>
        </p:nvSpPr>
        <p:spPr>
          <a:xfrm>
            <a:off x="6457950" y="2628801"/>
            <a:ext cx="480726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IBM Plex Sans" pitchFamily="34" charset="0"/>
                <a:ea typeface="IBM Plex Sans" pitchFamily="34" charset="-122"/>
                <a:cs typeface="IBM Plex Sans" pitchFamily="34" charset="-120"/>
              </a:rPr>
              <a:t>GRU or stacked recurrent layers</a:t>
            </a:r>
            <a:endParaRPr lang="en-US" sz="1600" dirty="0"/>
          </a:p>
        </p:txBody>
      </p:sp>
      <p:sp>
        <p:nvSpPr>
          <p:cNvPr id="16" name="Shape 14"/>
          <p:cNvSpPr/>
          <p:nvPr/>
        </p:nvSpPr>
        <p:spPr>
          <a:xfrm>
            <a:off x="6457950" y="3021211"/>
            <a:ext cx="4667250" cy="0"/>
          </a:xfrm>
          <a:prstGeom prst="line">
            <a:avLst/>
          </a:prstGeom>
          <a:noFill/>
          <a:ln w="12700">
            <a:solidFill>
              <a:srgbClr val="2A3B57"/>
            </a:solidFill>
            <a:prstDash val="solid"/>
          </a:ln>
        </p:spPr>
      </p:sp>
      <p:sp>
        <p:nvSpPr>
          <p:cNvPr id="17" name="Text 15"/>
          <p:cNvSpPr/>
          <p:nvPr/>
        </p:nvSpPr>
        <p:spPr>
          <a:xfrm>
            <a:off x="6457950" y="3129161"/>
            <a:ext cx="480726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IBM Plex Sans" pitchFamily="34" charset="0"/>
                <a:ea typeface="IBM Plex Sans" pitchFamily="34" charset="-122"/>
                <a:cs typeface="IBM Plex Sans" pitchFamily="34" charset="-120"/>
              </a:rPr>
              <a:t>Pretrained GloVe word embeddings</a:t>
            </a:r>
            <a:endParaRPr lang="en-US" sz="1600" dirty="0"/>
          </a:p>
        </p:txBody>
      </p:sp>
      <p:sp>
        <p:nvSpPr>
          <p:cNvPr id="18" name="Shape 16"/>
          <p:cNvSpPr/>
          <p:nvPr/>
        </p:nvSpPr>
        <p:spPr>
          <a:xfrm>
            <a:off x="6457950" y="3521571"/>
            <a:ext cx="4667250" cy="0"/>
          </a:xfrm>
          <a:prstGeom prst="line">
            <a:avLst/>
          </a:prstGeom>
          <a:noFill/>
          <a:ln w="12700">
            <a:solidFill>
              <a:srgbClr val="2A3B57"/>
            </a:solidFill>
            <a:prstDash val="solid"/>
          </a:ln>
        </p:spPr>
      </p:sp>
      <p:sp>
        <p:nvSpPr>
          <p:cNvPr id="19" name="Text 17"/>
          <p:cNvSpPr/>
          <p:nvPr/>
        </p:nvSpPr>
        <p:spPr>
          <a:xfrm>
            <a:off x="6457950" y="3629521"/>
            <a:ext cx="480726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IBM Plex Sans" pitchFamily="34" charset="0"/>
                <a:ea typeface="IBM Plex Sans" pitchFamily="34" charset="-122"/>
                <a:cs typeface="IBM Plex Sans" pitchFamily="34" charset="-120"/>
              </a:rPr>
              <a:t>Sequences longer than 200 tokens</a:t>
            </a:r>
            <a:endParaRPr lang="en-US" sz="1600" dirty="0"/>
          </a:p>
        </p:txBody>
      </p:sp>
      <p:sp>
        <p:nvSpPr>
          <p:cNvPr id="20" name="Shape 18"/>
          <p:cNvSpPr/>
          <p:nvPr/>
        </p:nvSpPr>
        <p:spPr>
          <a:xfrm>
            <a:off x="6457950" y="4021931"/>
            <a:ext cx="4667250" cy="0"/>
          </a:xfrm>
          <a:prstGeom prst="line">
            <a:avLst/>
          </a:prstGeom>
          <a:noFill/>
          <a:ln w="12700">
            <a:solidFill>
              <a:srgbClr val="2A3B57"/>
            </a:solidFill>
            <a:prstDash val="solid"/>
          </a:ln>
        </p:spPr>
      </p:sp>
      <p:sp>
        <p:nvSpPr>
          <p:cNvPr id="21" name="Text 19"/>
          <p:cNvSpPr/>
          <p:nvPr/>
        </p:nvSpPr>
        <p:spPr>
          <a:xfrm>
            <a:off x="6457950" y="4129881"/>
            <a:ext cx="480726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IBM Plex Sans" pitchFamily="34" charset="0"/>
                <a:ea typeface="IBM Plex Sans" pitchFamily="34" charset="-122"/>
                <a:cs typeface="IBM Plex Sans" pitchFamily="34" charset="-120"/>
              </a:rPr>
              <a:t>Attention models such as BERT</a:t>
            </a:r>
            <a:endParaRPr lang="en-US" sz="1600" dirty="0"/>
          </a:p>
        </p:txBody>
      </p:sp>
      <p:sp>
        <p:nvSpPr>
          <p:cNvPr id="22" name="Text 2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IMDB sentiment analysis with RNN and LSTM</a:t>
            </a:r>
            <a:endParaRPr lang="en-US" sz="1200" dirty="0"/>
          </a:p>
        </p:txBody>
      </p:sp>
      <p:sp>
        <p:nvSpPr>
          <p:cNvPr id="23" name="Text 21"/>
          <p:cNvSpPr/>
          <p:nvPr/>
        </p:nvSpPr>
        <p:spPr>
          <a:xfrm>
            <a:off x="10515600" y="6238280"/>
            <a:ext cx="863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6350000" y="812800"/>
            <a:ext cx="5029200" cy="5029200"/>
          </a:xfrm>
          <a:prstGeom prst="rect">
            <a:avLst/>
          </a:prstGeom>
        </p:spPr>
      </p:pic>
      <p:pic>
        <p:nvPicPr>
          <p:cNvPr id="3" name="Image 1" descr="ellipse">    </p:cNvPr>
          <p:cNvPicPr>
            <a:picLocks noChangeAspect="1"/>
          </p:cNvPicPr>
          <p:nvPr/>
        </p:nvPicPr>
        <p:blipFill>
          <a:blip r:embed="rId2"/>
          <a:srcRect l="0" r="0" t="0" b="0"/>
          <a:stretch/>
        </p:blipFill>
        <p:spPr>
          <a:xfrm>
            <a:off x="7645400" y="2108200"/>
            <a:ext cx="2438400" cy="2438400"/>
          </a:xfrm>
          <a:prstGeom prst="rect">
            <a:avLst/>
          </a:prstGeom>
        </p:spPr>
      </p:pic>
      <p:pic>
        <p:nvPicPr>
          <p:cNvPr id="4" name="Image 2" descr="ellipse">    </p:cNvPr>
          <p:cNvPicPr>
            <a:picLocks noChangeAspect="1"/>
          </p:cNvPicPr>
          <p:nvPr/>
        </p:nvPicPr>
        <p:blipFill>
          <a:blip r:embed="rId3"/>
          <a:srcRect l="0" r="0" t="0" b="0"/>
          <a:stretch/>
        </p:blipFill>
        <p:spPr>
          <a:xfrm>
            <a:off x="8509000" y="2971800"/>
            <a:ext cx="711200" cy="711200"/>
          </a:xfrm>
          <a:prstGeom prst="rect">
            <a:avLst/>
          </a:prstGeom>
        </p:spPr>
      </p:pic>
      <p:sp>
        <p:nvSpPr>
          <p:cNvPr id="5" name="Text 0"/>
          <p:cNvSpPr/>
          <p:nvPr/>
        </p:nvSpPr>
        <p:spPr>
          <a:xfrm>
            <a:off x="812800" y="23901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A23B"/>
                </a:solidFill>
                <a:latin typeface="IBM Plex Sans" pitchFamily="34" charset="0"/>
                <a:ea typeface="IBM Plex Sans" pitchFamily="34" charset="-122"/>
                <a:cs typeface="IBM Plex Sans" pitchFamily="34" charset="-120"/>
              </a:rPr>
              <a:t>QUESTIONS</a:t>
            </a:r>
            <a:endParaRPr lang="en-US" sz="1200" dirty="0"/>
          </a:p>
        </p:txBody>
      </p:sp>
      <p:sp>
        <p:nvSpPr>
          <p:cNvPr id="6" name="Text 1"/>
          <p:cNvSpPr/>
          <p:nvPr>
            <p:ph type="title"/>
          </p:nvPr>
        </p:nvSpPr>
        <p:spPr>
          <a:xfrm>
            <a:off x="812800" y="2806700"/>
            <a:ext cx="5886450" cy="6400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6F4EE"/>
                </a:solidFill>
                <a:latin typeface="IBM Plex Sans" pitchFamily="34" charset="0"/>
                <a:ea typeface="IBM Plex Sans" pitchFamily="34" charset="-122"/>
                <a:cs typeface="IBM Plex Sans" pitchFamily="34" charset="-120"/>
              </a:rPr>
              <a:t>Thank you</a:t>
            </a:r>
            <a:endParaRPr lang="en-US" sz="4400" dirty="0"/>
          </a:p>
        </p:txBody>
      </p:sp>
      <p:sp>
        <p:nvSpPr>
          <p:cNvPr id="7" name="Text 2"/>
          <p:cNvSpPr/>
          <p:nvPr/>
        </p:nvSpPr>
        <p:spPr>
          <a:xfrm>
            <a:off x="812800" y="3624560"/>
            <a:ext cx="588645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9C4D6"/>
                </a:solidFill>
                <a:latin typeface="IBM Plex Sans" pitchFamily="34" charset="0"/>
                <a:ea typeface="IBM Plex Sans" pitchFamily="34" charset="-122"/>
                <a:cs typeface="IBM Plex Sans" pitchFamily="34" charset="-120"/>
              </a:rPr>
              <a:t>Questions and discussion</a:t>
            </a:r>
            <a:endParaRPr lang="en-US" sz="2000" dirty="0"/>
          </a:p>
        </p:txBody>
      </p:sp>
      <p:sp>
        <p:nvSpPr>
          <p:cNvPr id="8" name="Text 3"/>
          <p:cNvSpPr/>
          <p:nvPr/>
        </p:nvSpPr>
        <p:spPr>
          <a:xfrm>
            <a:off x="812800" y="4183360"/>
            <a:ext cx="58864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4D6"/>
                </a:solidFill>
                <a:latin typeface="IBM Plex Sans" pitchFamily="34" charset="0"/>
                <a:ea typeface="IBM Plex Sans" pitchFamily="34" charset="-122"/>
                <a:cs typeface="IBM Plex Sans" pitchFamily="34" charset="-120"/>
              </a:rPr>
              <a:t>Notebook: imdb_sentiment_full.ipynb</a:t>
            </a:r>
            <a:endParaRPr lang="en-US" sz="1600" dirty="0"/>
          </a:p>
        </p:txBody>
      </p:sp>
      <p:sp>
        <p:nvSpPr>
          <p:cNvPr id="9" name="Text 4"/>
          <p:cNvSpPr/>
          <p:nvPr/>
        </p:nvSpPr>
        <p:spPr>
          <a:xfrm>
            <a:off x="10515600" y="6238280"/>
            <a:ext cx="863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0B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theme/theme1.xml><?xml version="1.0" encoding="utf-8"?>
<a:theme xmlns:a="http://schemas.openxmlformats.org/drawingml/2006/main" name="IMDB Sentiment Analysis with RNN and LSTM">
  <a:themeElements>
    <a:clrScheme name="IMDB Sentiment Analysis with RNN and LSTM">
      <a:dk1>
        <a:srgbClr val="0F1B2D"/>
      </a:dk1>
      <a:lt1>
        <a:srgbClr val="F6F4EE"/>
      </a:lt1>
      <a:dk2>
        <a:srgbClr val="49515D"/>
      </a:dk2>
      <a:lt2>
        <a:srgbClr val="DFDEDB"/>
      </a:lt2>
      <a:accent1>
        <a:srgbClr val="2456C9"/>
      </a:accent1>
      <a:accent2>
        <a:srgbClr val="E9A23B"/>
      </a:accent2>
      <a:accent3>
        <a:srgbClr val="8FA0BA"/>
      </a:accent3>
      <a:accent4>
        <a:srgbClr val="5B6676"/>
      </a:accent4>
      <a:accent5>
        <a:srgbClr val="3B4658"/>
      </a:accent5>
      <a:accent6>
        <a:srgbClr val="B9C4D6"/>
      </a:accent6>
      <a:hlink>
        <a:srgbClr val="0563C1"/>
      </a:hlink>
      <a:folHlink>
        <a:srgbClr val="954F72"/>
      </a:folHlink>
    </a:clrScheme>
    <a:fontScheme name="IMDB Sentiment Analysis with RNN and LSTM">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IMDB Sentiment Analysis with RNN and LSTM</dc:title>
  <dc:subject/>
  <dc:creator/>
  <cp:lastModifiedBy/>
  <cp:revision>1</cp:revision>
  <dcterms:created xsi:type="dcterms:W3CDTF">2026-10-29T06:50:46Z</dcterms:created>
  <dcterms:modified xsi:type="dcterms:W3CDTF">2026-10-29T06:50:46Z</dcterms:modified>
</cp:coreProperties>
</file>